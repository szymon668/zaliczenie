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7DA38F49-B3E2-4BF0-BEC7-C30D34ABBB8D}" type="datetime1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28649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99149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86756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46770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4887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39765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31826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54279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2101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raz panoramiczny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17907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73383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50952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09391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29365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 obraz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37732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7DA38F49-B3E2-4BF0-BEC7-C30D34ABBB8D}" type="datetime1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639776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7DA38F49-B3E2-4BF0-BEC7-C30D34ABBB8D}" type="datetime1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12719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DA38F49-B3E2-4BF0-BEC7-C30D34ABBB8D}" type="datetime1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043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  <p:sldLayoutId id="2147483765" r:id="rId14"/>
    <p:sldLayoutId id="2147483766" r:id="rId15"/>
    <p:sldLayoutId id="2147483767" r:id="rId16"/>
    <p:sldLayoutId id="2147483768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yfrowy wykres finansowy">
            <a:extLst>
              <a:ext uri="{FF2B5EF4-FFF2-40B4-BE49-F238E27FC236}">
                <a16:creationId xmlns:a16="http://schemas.microsoft.com/office/drawing/2014/main" id="{A6C1C5A9-467B-96E7-7473-07866B16B6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554" r="22610" b="-1"/>
          <a:stretch>
            <a:fillRect/>
          </a:stretch>
        </p:blipFill>
        <p:spPr>
          <a:xfrm>
            <a:off x="423337" y="402166"/>
            <a:ext cx="4932951" cy="6053670"/>
          </a:xfrm>
          <a:custGeom>
            <a:avLst/>
            <a:gdLst/>
            <a:ahLst/>
            <a:cxnLst/>
            <a:rect l="l" t="t" r="r" b="b"/>
            <a:pathLst>
              <a:path w="4932951" h="6053670">
                <a:moveTo>
                  <a:pt x="0" y="0"/>
                </a:moveTo>
                <a:lnTo>
                  <a:pt x="3678393" y="0"/>
                </a:lnTo>
                <a:lnTo>
                  <a:pt x="4478865" y="0"/>
                </a:lnTo>
                <a:lnTo>
                  <a:pt x="4931853" y="0"/>
                </a:lnTo>
                <a:lnTo>
                  <a:pt x="4908487" y="137419"/>
                </a:lnTo>
                <a:lnTo>
                  <a:pt x="4886218" y="274232"/>
                </a:lnTo>
                <a:lnTo>
                  <a:pt x="4864421" y="411650"/>
                </a:lnTo>
                <a:lnTo>
                  <a:pt x="4845759" y="549673"/>
                </a:lnTo>
                <a:lnTo>
                  <a:pt x="4826941" y="687092"/>
                </a:lnTo>
                <a:lnTo>
                  <a:pt x="4809377" y="825115"/>
                </a:lnTo>
                <a:lnTo>
                  <a:pt x="4794322" y="961323"/>
                </a:lnTo>
                <a:lnTo>
                  <a:pt x="4780052" y="1099347"/>
                </a:lnTo>
                <a:lnTo>
                  <a:pt x="4767035" y="1236765"/>
                </a:lnTo>
                <a:lnTo>
                  <a:pt x="4755744" y="1371761"/>
                </a:lnTo>
                <a:lnTo>
                  <a:pt x="4744453" y="1508574"/>
                </a:lnTo>
                <a:lnTo>
                  <a:pt x="4735044" y="1643572"/>
                </a:lnTo>
                <a:lnTo>
                  <a:pt x="4727674" y="1778568"/>
                </a:lnTo>
                <a:lnTo>
                  <a:pt x="4719990" y="1912960"/>
                </a:lnTo>
                <a:lnTo>
                  <a:pt x="4713560" y="2046141"/>
                </a:lnTo>
                <a:lnTo>
                  <a:pt x="4709012" y="2178111"/>
                </a:lnTo>
                <a:lnTo>
                  <a:pt x="4705092" y="2310081"/>
                </a:lnTo>
                <a:lnTo>
                  <a:pt x="4701328" y="2440840"/>
                </a:lnTo>
                <a:lnTo>
                  <a:pt x="4699603" y="2569783"/>
                </a:lnTo>
                <a:lnTo>
                  <a:pt x="4697721" y="2698726"/>
                </a:lnTo>
                <a:lnTo>
                  <a:pt x="4696780" y="2825853"/>
                </a:lnTo>
                <a:lnTo>
                  <a:pt x="4697721" y="2951770"/>
                </a:lnTo>
                <a:lnTo>
                  <a:pt x="4697721" y="3076475"/>
                </a:lnTo>
                <a:lnTo>
                  <a:pt x="4699603" y="3199970"/>
                </a:lnTo>
                <a:lnTo>
                  <a:pt x="4702426" y="3321043"/>
                </a:lnTo>
                <a:lnTo>
                  <a:pt x="4705092" y="3440906"/>
                </a:lnTo>
                <a:lnTo>
                  <a:pt x="4708071" y="3558347"/>
                </a:lnTo>
                <a:lnTo>
                  <a:pt x="4712619" y="3675183"/>
                </a:lnTo>
                <a:lnTo>
                  <a:pt x="4717480" y="3790203"/>
                </a:lnTo>
                <a:lnTo>
                  <a:pt x="4721871" y="3902801"/>
                </a:lnTo>
                <a:lnTo>
                  <a:pt x="4734260" y="4122549"/>
                </a:lnTo>
                <a:lnTo>
                  <a:pt x="4747433" y="4333217"/>
                </a:lnTo>
                <a:lnTo>
                  <a:pt x="4761233" y="4535409"/>
                </a:lnTo>
                <a:lnTo>
                  <a:pt x="4776445" y="4726705"/>
                </a:lnTo>
                <a:lnTo>
                  <a:pt x="4792283" y="4909526"/>
                </a:lnTo>
                <a:lnTo>
                  <a:pt x="4809377" y="5079029"/>
                </a:lnTo>
                <a:lnTo>
                  <a:pt x="4826157" y="5238240"/>
                </a:lnTo>
                <a:lnTo>
                  <a:pt x="4842936" y="5384739"/>
                </a:lnTo>
                <a:lnTo>
                  <a:pt x="4858775" y="5519131"/>
                </a:lnTo>
                <a:lnTo>
                  <a:pt x="4873830" y="5638388"/>
                </a:lnTo>
                <a:lnTo>
                  <a:pt x="4888100" y="5746143"/>
                </a:lnTo>
                <a:lnTo>
                  <a:pt x="4900019" y="5836948"/>
                </a:lnTo>
                <a:lnTo>
                  <a:pt x="4911310" y="5913225"/>
                </a:lnTo>
                <a:lnTo>
                  <a:pt x="4927462" y="6017953"/>
                </a:lnTo>
                <a:lnTo>
                  <a:pt x="4932951" y="6053670"/>
                </a:lnTo>
                <a:lnTo>
                  <a:pt x="4478865" y="6053670"/>
                </a:lnTo>
                <a:lnTo>
                  <a:pt x="3683097" y="6053670"/>
                </a:lnTo>
                <a:lnTo>
                  <a:pt x="0" y="6053670"/>
                </a:lnTo>
                <a:close/>
              </a:path>
            </a:pathLst>
          </a:cu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108E1B24-E270-E522-024B-AD8069AF14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95061" y="1241266"/>
            <a:ext cx="5428551" cy="315375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sz="5000" b="0"/>
              <a:t>Analiza potrzeb informatycznych użytkowników biznesowych</a:t>
            </a:r>
            <a:endParaRPr lang="pl-PL" sz="5000"/>
          </a:p>
        </p:txBody>
      </p:sp>
    </p:spTree>
    <p:extLst>
      <p:ext uri="{BB962C8B-B14F-4D97-AF65-F5344CB8AC3E}">
        <p14:creationId xmlns:p14="http://schemas.microsoft.com/office/powerpoint/2010/main" val="2384518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C254F1A-07A5-6B1F-1F12-DE77855F0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Raport BPMN – Opis procesów biznesowych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3476CE1-9727-5992-E5EC-260F4A2E5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/>
              <a:t>Legenda kolorystyki BPMN</a:t>
            </a:r>
          </a:p>
          <a:p>
            <a:pPr marL="0" indent="0">
              <a:buNone/>
            </a:pPr>
            <a:endParaRPr lang="pl-PL" dirty="0"/>
          </a:p>
          <a:p>
            <a:r>
              <a:rPr lang="pl-PL" dirty="0"/>
              <a:t>Legenda kolorystyki BPMN </a:t>
            </a:r>
          </a:p>
          <a:p>
            <a:r>
              <a:rPr lang="pl-PL" dirty="0">
                <a:solidFill>
                  <a:srgbClr val="00B050"/>
                </a:solidFill>
              </a:rPr>
              <a:t>• Zielony </a:t>
            </a:r>
            <a:r>
              <a:rPr lang="pl-PL" dirty="0"/>
              <a:t>– zdarzenie początkowe / nowy proces. </a:t>
            </a:r>
          </a:p>
          <a:p>
            <a:r>
              <a:rPr lang="pl-PL" dirty="0">
                <a:solidFill>
                  <a:srgbClr val="0070C0"/>
                </a:solidFill>
              </a:rPr>
              <a:t>• Niebieski </a:t>
            </a:r>
            <a:r>
              <a:rPr lang="pl-PL" dirty="0"/>
              <a:t>– element modyfikowany, integracyjny lub systemowy. </a:t>
            </a:r>
          </a:p>
          <a:p>
            <a:r>
              <a:rPr lang="pl-PL" dirty="0">
                <a:solidFill>
                  <a:srgbClr val="FF0000"/>
                </a:solidFill>
              </a:rPr>
              <a:t>• Czerwony </a:t>
            </a:r>
            <a:r>
              <a:rPr lang="pl-PL" dirty="0"/>
              <a:t>– zakończenie negatywne, odrzucenie, zamknięcie procesu.</a:t>
            </a:r>
          </a:p>
        </p:txBody>
      </p:sp>
    </p:spTree>
    <p:extLst>
      <p:ext uri="{BB962C8B-B14F-4D97-AF65-F5344CB8AC3E}">
        <p14:creationId xmlns:p14="http://schemas.microsoft.com/office/powerpoint/2010/main" val="943057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9">
            <a:extLst>
              <a:ext uri="{FF2B5EF4-FFF2-40B4-BE49-F238E27FC236}">
                <a16:creationId xmlns:a16="http://schemas.microsoft.com/office/drawing/2014/main" id="{643780CE-2BE5-46F6-97B2-60DF30217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1A87A49-68E6-459E-A5A6-46229FF42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23" name="Freeform 5">
            <a:extLst>
              <a:ext uri="{FF2B5EF4-FFF2-40B4-BE49-F238E27FC236}">
                <a16:creationId xmlns:a16="http://schemas.microsoft.com/office/drawing/2014/main" id="{F6ACD5FC-CAFE-48EB-B765-60EED2E0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A81ED68-2A1A-6C1A-C9FA-81BC4B1E3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2942210" cy="1020232"/>
          </a:xfrm>
        </p:spPr>
        <p:txBody>
          <a:bodyPr>
            <a:normAutofit/>
          </a:bodyPr>
          <a:lstStyle/>
          <a:p>
            <a:r>
              <a:rPr lang="pl-PL">
                <a:solidFill>
                  <a:srgbClr val="EBEBEB"/>
                </a:solidFill>
              </a:rPr>
              <a:t>Zadanie 1</a:t>
            </a:r>
          </a:p>
        </p:txBody>
      </p:sp>
      <p:pic>
        <p:nvPicPr>
          <p:cNvPr id="5" name="Obraz 4" descr="Obraz zawierający tekst, diagram, zrzut ekranu, Plan&#10;&#10;Zawartość wygenerowana przez AI może być niepoprawna.">
            <a:extLst>
              <a:ext uri="{FF2B5EF4-FFF2-40B4-BE49-F238E27FC236}">
                <a16:creationId xmlns:a16="http://schemas.microsoft.com/office/drawing/2014/main" id="{35BABC4A-C26C-5C33-FBA5-AE7B4441D8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607" y="1391699"/>
            <a:ext cx="6391533" cy="4074602"/>
          </a:xfrm>
          <a:prstGeom prst="rect">
            <a:avLst/>
          </a:prstGeom>
        </p:spPr>
      </p:pic>
      <p:sp>
        <p:nvSpPr>
          <p:cNvPr id="24" name="Rectangle 15">
            <a:extLst>
              <a:ext uri="{FF2B5EF4-FFF2-40B4-BE49-F238E27FC236}">
                <a16:creationId xmlns:a16="http://schemas.microsoft.com/office/drawing/2014/main" id="{9F33B405-D785-4738-B1C0-6A0AA5E98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5" name="Oval 17">
            <a:extLst>
              <a:ext uri="{FF2B5EF4-FFF2-40B4-BE49-F238E27FC236}">
                <a16:creationId xmlns:a16="http://schemas.microsoft.com/office/drawing/2014/main" id="{4233DC0E-DE6C-4FB6-A529-51B162641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6" name="Oval 19">
            <a:extLst>
              <a:ext uri="{FF2B5EF4-FFF2-40B4-BE49-F238E27FC236}">
                <a16:creationId xmlns:a16="http://schemas.microsoft.com/office/drawing/2014/main" id="{3870477F-E451-4BC3-863F-0E2FC5728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334146D-8611-8091-473B-B8FA334F3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120900"/>
            <a:ext cx="3133726" cy="3898900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l-PL" sz="1300" b="1" dirty="0">
                <a:solidFill>
                  <a:srgbClr val="FFFFFF"/>
                </a:solidFill>
              </a:rPr>
              <a:t>Order-to-</a:t>
            </a:r>
            <a:r>
              <a:rPr lang="pl-PL" sz="1300" b="1" dirty="0" err="1">
                <a:solidFill>
                  <a:srgbClr val="FFFFFF"/>
                </a:solidFill>
              </a:rPr>
              <a:t>Batch</a:t>
            </a:r>
            <a:r>
              <a:rPr lang="pl-PL" sz="1300" dirty="0">
                <a:solidFill>
                  <a:srgbClr val="FFFFFF"/>
                </a:solidFill>
              </a:rPr>
              <a:t> </a:t>
            </a:r>
          </a:p>
          <a:p>
            <a:pPr>
              <a:lnSpc>
                <a:spcPct val="90000"/>
              </a:lnSpc>
            </a:pPr>
            <a:r>
              <a:rPr lang="pl-PL" sz="1300" dirty="0">
                <a:solidFill>
                  <a:srgbClr val="FFFFFF"/>
                </a:solidFill>
              </a:rPr>
              <a:t>Proces rozpoczyna się w momencie otrzymania zlecenia produkcyjnego przez planistę.</a:t>
            </a:r>
          </a:p>
          <a:p>
            <a:pPr>
              <a:lnSpc>
                <a:spcPct val="90000"/>
              </a:lnSpc>
            </a:pPr>
            <a:r>
              <a:rPr lang="pl-PL" sz="1300" dirty="0">
                <a:solidFill>
                  <a:srgbClr val="FFFFFF"/>
                </a:solidFill>
              </a:rPr>
              <a:t> Planista weryfikuje poprawność zlecenia oraz tworzy plan partii. </a:t>
            </a:r>
          </a:p>
          <a:p>
            <a:pPr>
              <a:lnSpc>
                <a:spcPct val="90000"/>
              </a:lnSpc>
            </a:pPr>
            <a:r>
              <a:rPr lang="pl-PL" sz="1300" dirty="0">
                <a:solidFill>
                  <a:srgbClr val="FFFFFF"/>
                </a:solidFill>
              </a:rPr>
              <a:t>Magazyn dokonuje przydziału surowców zgodnie z planem.</a:t>
            </a:r>
          </a:p>
          <a:p>
            <a:pPr>
              <a:lnSpc>
                <a:spcPct val="90000"/>
              </a:lnSpc>
            </a:pPr>
            <a:r>
              <a:rPr lang="pl-PL" sz="1300" dirty="0">
                <a:solidFill>
                  <a:srgbClr val="FFFFFF"/>
                </a:solidFill>
              </a:rPr>
              <a:t> Produkcja realizuje recepturę oraz monitoruje parametry procesu. W przypadku przekroczenia tolerancji następuje zgłoszenie niezgodności procesowej.</a:t>
            </a:r>
          </a:p>
          <a:p>
            <a:pPr>
              <a:lnSpc>
                <a:spcPct val="90000"/>
              </a:lnSpc>
            </a:pPr>
            <a:r>
              <a:rPr lang="pl-PL" sz="1300" dirty="0">
                <a:solidFill>
                  <a:srgbClr val="FFFFFF"/>
                </a:solidFill>
              </a:rPr>
              <a:t> QA przeprowadza kontrolę jakości partii i podejmuje decyzję o dalszym losie partii.</a:t>
            </a:r>
          </a:p>
        </p:txBody>
      </p:sp>
      <p:sp>
        <p:nvSpPr>
          <p:cNvPr id="27" name="Freeform 5">
            <a:extLst>
              <a:ext uri="{FF2B5EF4-FFF2-40B4-BE49-F238E27FC236}">
                <a16:creationId xmlns:a16="http://schemas.microsoft.com/office/drawing/2014/main" id="{B4A81DE1-E2BC-4A31-99EE-71350421B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002182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43780CE-2BE5-46F6-97B2-60DF30217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1A87A49-68E6-459E-A5A6-46229FF42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F6ACD5FC-CAFE-48EB-B765-60EED2E0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94D4CCA-37D6-B9A9-2B37-D30C819AA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2942210" cy="1020232"/>
          </a:xfrm>
        </p:spPr>
        <p:txBody>
          <a:bodyPr>
            <a:normAutofit/>
          </a:bodyPr>
          <a:lstStyle/>
          <a:p>
            <a:r>
              <a:rPr lang="pl-PL">
                <a:solidFill>
                  <a:srgbClr val="EBEBEB"/>
                </a:solidFill>
              </a:rPr>
              <a:t>Zadanie 1</a:t>
            </a:r>
          </a:p>
        </p:txBody>
      </p:sp>
      <p:pic>
        <p:nvPicPr>
          <p:cNvPr id="7" name="Obraz 6" descr="Obraz zawierający tekst, diagram, zrzut ekranu, linia&#10;&#10;Zawartość wygenerowana przez AI może być niepoprawna.">
            <a:extLst>
              <a:ext uri="{FF2B5EF4-FFF2-40B4-BE49-F238E27FC236}">
                <a16:creationId xmlns:a16="http://schemas.microsoft.com/office/drawing/2014/main" id="{EF9C3D28-A160-FCFD-3D59-BD2F0FCEA2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607" y="1104080"/>
            <a:ext cx="6391533" cy="464984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F33B405-D785-4738-B1C0-6A0AA5E98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233DC0E-DE6C-4FB6-A529-51B162641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870477F-E451-4BC3-863F-0E2FC5728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537FA10-19C4-B0A0-2F24-77DDA1D39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120900"/>
            <a:ext cx="3133726" cy="3898900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l-PL" sz="1500" b="1" dirty="0" err="1">
                <a:solidFill>
                  <a:srgbClr val="FFFFFF"/>
                </a:solidFill>
              </a:rPr>
              <a:t>Batch</a:t>
            </a:r>
            <a:r>
              <a:rPr lang="pl-PL" sz="1500" b="1" dirty="0">
                <a:solidFill>
                  <a:srgbClr val="FFFFFF"/>
                </a:solidFill>
              </a:rPr>
              <a:t> </a:t>
            </a:r>
            <a:r>
              <a:rPr lang="pl-PL" sz="1500" b="1" dirty="0" err="1">
                <a:solidFill>
                  <a:srgbClr val="FFFFFF"/>
                </a:solidFill>
              </a:rPr>
              <a:t>Traceability</a:t>
            </a:r>
            <a:endParaRPr lang="pl-PL" sz="1500" b="1" dirty="0">
              <a:solidFill>
                <a:srgbClr val="FFFFFF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pl-PL" sz="1500" dirty="0">
                <a:solidFill>
                  <a:srgbClr val="FFFFFF"/>
                </a:solidFill>
              </a:rPr>
              <a:t> Proces rozpoczyna się od zapytania klienta dotyczącego identyfikowalności partii.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l-PL" sz="1500" dirty="0">
                <a:solidFill>
                  <a:srgbClr val="FFFFFF"/>
                </a:solidFill>
              </a:rPr>
              <a:t>Dane są konsolidowane z systemów MES, ERP oraz LIMS.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l-PL" sz="1500" dirty="0">
                <a:solidFill>
                  <a:srgbClr val="FFFFFF"/>
                </a:solidFill>
              </a:rPr>
              <a:t> QA weryfikuje kompletność i spójność danych. Po potwierdzeniu kompletności generowany jest raport </a:t>
            </a:r>
            <a:r>
              <a:rPr lang="pl-PL" sz="1500" dirty="0" err="1">
                <a:solidFill>
                  <a:srgbClr val="FFFFFF"/>
                </a:solidFill>
              </a:rPr>
              <a:t>traceability</a:t>
            </a:r>
            <a:r>
              <a:rPr lang="pl-PL" sz="1500" dirty="0">
                <a:solidFill>
                  <a:srgbClr val="FFFFFF"/>
                </a:solidFill>
              </a:rPr>
              <a:t>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l-PL" sz="1500" dirty="0">
                <a:solidFill>
                  <a:srgbClr val="FFFFFF"/>
                </a:solidFill>
              </a:rPr>
              <a:t> Raport jest przekazywany do klienta, a zapytanie zostaje zamknięte.</a:t>
            </a:r>
          </a:p>
        </p:txBody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B4A81DE1-E2BC-4A31-99EE-71350421B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880445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43780CE-2BE5-46F6-97B2-60DF30217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1A87A49-68E6-459E-A5A6-46229FF42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F6ACD5FC-CAFE-48EB-B765-60EED2E0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6A4F5E3-06E4-B4BC-3EB2-FCA96D611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2942210" cy="1020232"/>
          </a:xfrm>
        </p:spPr>
        <p:txBody>
          <a:bodyPr>
            <a:normAutofit/>
          </a:bodyPr>
          <a:lstStyle/>
          <a:p>
            <a:r>
              <a:rPr lang="pl-PL">
                <a:solidFill>
                  <a:srgbClr val="EBEBEB"/>
                </a:solidFill>
              </a:rPr>
              <a:t>Zadanie 2</a:t>
            </a:r>
          </a:p>
        </p:txBody>
      </p:sp>
      <p:pic>
        <p:nvPicPr>
          <p:cNvPr id="5" name="Obraz 4" descr="Obraz zawierający tekst, diagram, zrzut ekranu, linia&#10;&#10;Zawartość wygenerowana przez AI może być niepoprawna.">
            <a:extLst>
              <a:ext uri="{FF2B5EF4-FFF2-40B4-BE49-F238E27FC236}">
                <a16:creationId xmlns:a16="http://schemas.microsoft.com/office/drawing/2014/main" id="{4A32E3C0-6C17-E779-D33C-91871FAFD9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607" y="1847096"/>
            <a:ext cx="6391533" cy="316380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F33B405-D785-4738-B1C0-6A0AA5E98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233DC0E-DE6C-4FB6-A529-51B162641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870477F-E451-4BC3-863F-0E2FC5728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69F1337-3987-B54A-2B06-DAE11F3BF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120900"/>
            <a:ext cx="3133726" cy="3898900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l-PL" sz="2000" b="1" dirty="0">
                <a:solidFill>
                  <a:srgbClr val="FFFFFF"/>
                </a:solidFill>
              </a:rPr>
              <a:t>Non-</a:t>
            </a:r>
            <a:r>
              <a:rPr lang="pl-PL" sz="2000" b="1" dirty="0" err="1">
                <a:solidFill>
                  <a:srgbClr val="FFFFFF"/>
                </a:solidFill>
              </a:rPr>
              <a:t>conformance</a:t>
            </a:r>
            <a:r>
              <a:rPr lang="pl-PL" sz="2000" b="1" dirty="0">
                <a:solidFill>
                  <a:srgbClr val="FFFFFF"/>
                </a:solidFill>
              </a:rPr>
              <a:t> Handling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l-PL" sz="1500" dirty="0">
                <a:solidFill>
                  <a:srgbClr val="FFFFFF"/>
                </a:solidFill>
              </a:rPr>
              <a:t>Proces rozpoczyna się w momencie wykrycia niezgodności na produkcji.</a:t>
            </a:r>
          </a:p>
          <a:p>
            <a:pPr>
              <a:lnSpc>
                <a:spcPct val="90000"/>
              </a:lnSpc>
            </a:pPr>
            <a:r>
              <a:rPr lang="pl-PL" sz="1500" dirty="0">
                <a:solidFill>
                  <a:srgbClr val="FFFFFF"/>
                </a:solidFill>
              </a:rPr>
              <a:t>QA klasyfikuje niezgodność i podejmuje decyzję o dalszym postępowaniu. Możliwe scenariusze to: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l-PL" sz="1500" dirty="0">
                <a:solidFill>
                  <a:srgbClr val="FFFFFF"/>
                </a:solidFill>
              </a:rPr>
              <a:t> </a:t>
            </a:r>
            <a:r>
              <a:rPr lang="pl-PL" sz="1500" dirty="0" err="1">
                <a:solidFill>
                  <a:srgbClr val="FFFFFF"/>
                </a:solidFill>
              </a:rPr>
              <a:t>rework</a:t>
            </a:r>
            <a:r>
              <a:rPr lang="pl-PL" sz="1500" dirty="0">
                <a:solidFill>
                  <a:srgbClr val="FFFFFF"/>
                </a:solidFill>
              </a:rPr>
              <a:t>, </a:t>
            </a:r>
            <a:r>
              <a:rPr lang="pl-PL" sz="1500" dirty="0" err="1">
                <a:solidFill>
                  <a:srgbClr val="FFFFFF"/>
                </a:solidFill>
              </a:rPr>
              <a:t>scrap</a:t>
            </a:r>
            <a:r>
              <a:rPr lang="pl-PL" sz="1500" dirty="0">
                <a:solidFill>
                  <a:srgbClr val="FFFFFF"/>
                </a:solidFill>
              </a:rPr>
              <a:t> lub akceptacja warunkowa (</a:t>
            </a:r>
            <a:r>
              <a:rPr lang="pl-PL" sz="1500" dirty="0" err="1">
                <a:solidFill>
                  <a:srgbClr val="FFFFFF"/>
                </a:solidFill>
              </a:rPr>
              <a:t>use</a:t>
            </a:r>
            <a:r>
              <a:rPr lang="pl-PL" sz="1500" dirty="0">
                <a:solidFill>
                  <a:srgbClr val="FFFFFF"/>
                </a:solidFill>
              </a:rPr>
              <a:t> as-</a:t>
            </a:r>
            <a:r>
              <a:rPr lang="pl-PL" sz="1500" dirty="0" err="1">
                <a:solidFill>
                  <a:srgbClr val="FFFFFF"/>
                </a:solidFill>
              </a:rPr>
              <a:t>is</a:t>
            </a:r>
            <a:r>
              <a:rPr lang="pl-PL" sz="1500" dirty="0">
                <a:solidFill>
                  <a:srgbClr val="FFFFFF"/>
                </a:solidFill>
              </a:rPr>
              <a:t>).</a:t>
            </a:r>
          </a:p>
          <a:p>
            <a:pPr>
              <a:lnSpc>
                <a:spcPct val="90000"/>
              </a:lnSpc>
            </a:pPr>
            <a:r>
              <a:rPr lang="pl-PL" sz="1500" dirty="0">
                <a:solidFill>
                  <a:srgbClr val="FFFFFF"/>
                </a:solidFill>
              </a:rPr>
              <a:t> Po </a:t>
            </a:r>
            <a:r>
              <a:rPr lang="pl-PL" sz="1500" dirty="0" err="1">
                <a:solidFill>
                  <a:srgbClr val="FFFFFF"/>
                </a:solidFill>
              </a:rPr>
              <a:t>reworku</a:t>
            </a:r>
            <a:r>
              <a:rPr lang="pl-PL" sz="1500" dirty="0">
                <a:solidFill>
                  <a:srgbClr val="FFFFFF"/>
                </a:solidFill>
              </a:rPr>
              <a:t> następuje weryfikacja skuteczności działań. </a:t>
            </a:r>
          </a:p>
          <a:p>
            <a:pPr>
              <a:lnSpc>
                <a:spcPct val="90000"/>
              </a:lnSpc>
            </a:pPr>
            <a:r>
              <a:rPr lang="pl-PL" sz="1500" dirty="0">
                <a:solidFill>
                  <a:srgbClr val="FFFFFF"/>
                </a:solidFill>
              </a:rPr>
              <a:t>Proces kończy się aktualizacją NCR oraz zamknięciem niezgodności</a:t>
            </a:r>
          </a:p>
        </p:txBody>
      </p:sp>
      <p:sp>
        <p:nvSpPr>
          <p:cNvPr id="22" name="Freeform 5">
            <a:extLst>
              <a:ext uri="{FF2B5EF4-FFF2-40B4-BE49-F238E27FC236}">
                <a16:creationId xmlns:a16="http://schemas.microsoft.com/office/drawing/2014/main" id="{B4A81DE1-E2BC-4A31-99EE-71350421B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290410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70C2B8F-6B1B-46D5-86E6-40F36C695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DB521824-592C-476A-AB0A-CA0C6D1F3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4698352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2749EFA-8EE4-4EB8-9424-8E593B932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950898" y="638067"/>
            <a:ext cx="6053670" cy="5581866"/>
          </a:xfrm>
          <a:custGeom>
            <a:avLst/>
            <a:gdLst>
              <a:gd name="connsiteX0" fmla="*/ 6053670 w 6053670"/>
              <a:gd name="connsiteY0" fmla="*/ 1098 h 5581866"/>
              <a:gd name="connsiteX1" fmla="*/ 6053670 w 6053670"/>
              <a:gd name="connsiteY1" fmla="*/ 514028 h 5581866"/>
              <a:gd name="connsiteX2" fmla="*/ 6053670 w 6053670"/>
              <a:gd name="connsiteY2" fmla="*/ 1254558 h 5581866"/>
              <a:gd name="connsiteX3" fmla="*/ 6053670 w 6053670"/>
              <a:gd name="connsiteY3" fmla="*/ 5581866 h 5581866"/>
              <a:gd name="connsiteX4" fmla="*/ 0 w 6053670"/>
              <a:gd name="connsiteY4" fmla="*/ 5581866 h 5581866"/>
              <a:gd name="connsiteX5" fmla="*/ 0 w 6053670"/>
              <a:gd name="connsiteY5" fmla="*/ 1249853 h 5581866"/>
              <a:gd name="connsiteX6" fmla="*/ 0 w 6053670"/>
              <a:gd name="connsiteY6" fmla="*/ 514028 h 5581866"/>
              <a:gd name="connsiteX7" fmla="*/ 0 w 6053670"/>
              <a:gd name="connsiteY7" fmla="*/ 0 h 5581866"/>
              <a:gd name="connsiteX8" fmla="*/ 35717 w 6053670"/>
              <a:gd name="connsiteY8" fmla="*/ 5488 h 5581866"/>
              <a:gd name="connsiteX9" fmla="*/ 140445 w 6053670"/>
              <a:gd name="connsiteY9" fmla="*/ 21641 h 5581866"/>
              <a:gd name="connsiteX10" fmla="*/ 216722 w 6053670"/>
              <a:gd name="connsiteY10" fmla="*/ 32932 h 5581866"/>
              <a:gd name="connsiteX11" fmla="*/ 307527 w 6053670"/>
              <a:gd name="connsiteY11" fmla="*/ 44850 h 5581866"/>
              <a:gd name="connsiteX12" fmla="*/ 415282 w 6053670"/>
              <a:gd name="connsiteY12" fmla="*/ 59121 h 5581866"/>
              <a:gd name="connsiteX13" fmla="*/ 534539 w 6053670"/>
              <a:gd name="connsiteY13" fmla="*/ 74175 h 5581866"/>
              <a:gd name="connsiteX14" fmla="*/ 668931 w 6053670"/>
              <a:gd name="connsiteY14" fmla="*/ 90014 h 5581866"/>
              <a:gd name="connsiteX15" fmla="*/ 815430 w 6053670"/>
              <a:gd name="connsiteY15" fmla="*/ 106794 h 5581866"/>
              <a:gd name="connsiteX16" fmla="*/ 974641 w 6053670"/>
              <a:gd name="connsiteY16" fmla="*/ 123574 h 5581866"/>
              <a:gd name="connsiteX17" fmla="*/ 1144144 w 6053670"/>
              <a:gd name="connsiteY17" fmla="*/ 140667 h 5581866"/>
              <a:gd name="connsiteX18" fmla="*/ 1326965 w 6053670"/>
              <a:gd name="connsiteY18" fmla="*/ 156506 h 5581866"/>
              <a:gd name="connsiteX19" fmla="*/ 1518261 w 6053670"/>
              <a:gd name="connsiteY19" fmla="*/ 171717 h 5581866"/>
              <a:gd name="connsiteX20" fmla="*/ 1720453 w 6053670"/>
              <a:gd name="connsiteY20" fmla="*/ 185518 h 5581866"/>
              <a:gd name="connsiteX21" fmla="*/ 1931121 w 6053670"/>
              <a:gd name="connsiteY21" fmla="*/ 198690 h 5581866"/>
              <a:gd name="connsiteX22" fmla="*/ 2150869 w 6053670"/>
              <a:gd name="connsiteY22" fmla="*/ 211079 h 5581866"/>
              <a:gd name="connsiteX23" fmla="*/ 2263467 w 6053670"/>
              <a:gd name="connsiteY23" fmla="*/ 215470 h 5581866"/>
              <a:gd name="connsiteX24" fmla="*/ 2378487 w 6053670"/>
              <a:gd name="connsiteY24" fmla="*/ 220332 h 5581866"/>
              <a:gd name="connsiteX25" fmla="*/ 2495323 w 6053670"/>
              <a:gd name="connsiteY25" fmla="*/ 224879 h 5581866"/>
              <a:gd name="connsiteX26" fmla="*/ 2612764 w 6053670"/>
              <a:gd name="connsiteY26" fmla="*/ 227859 h 5581866"/>
              <a:gd name="connsiteX27" fmla="*/ 2732627 w 6053670"/>
              <a:gd name="connsiteY27" fmla="*/ 230525 h 5581866"/>
              <a:gd name="connsiteX28" fmla="*/ 2853700 w 6053670"/>
              <a:gd name="connsiteY28" fmla="*/ 233348 h 5581866"/>
              <a:gd name="connsiteX29" fmla="*/ 2977195 w 6053670"/>
              <a:gd name="connsiteY29" fmla="*/ 235229 h 5581866"/>
              <a:gd name="connsiteX30" fmla="*/ 3101900 w 6053670"/>
              <a:gd name="connsiteY30" fmla="*/ 235229 h 5581866"/>
              <a:gd name="connsiteX31" fmla="*/ 3227817 w 6053670"/>
              <a:gd name="connsiteY31" fmla="*/ 236170 h 5581866"/>
              <a:gd name="connsiteX32" fmla="*/ 3354944 w 6053670"/>
              <a:gd name="connsiteY32" fmla="*/ 235229 h 5581866"/>
              <a:gd name="connsiteX33" fmla="*/ 3483887 w 6053670"/>
              <a:gd name="connsiteY33" fmla="*/ 233348 h 5581866"/>
              <a:gd name="connsiteX34" fmla="*/ 3612830 w 6053670"/>
              <a:gd name="connsiteY34" fmla="*/ 231623 h 5581866"/>
              <a:gd name="connsiteX35" fmla="*/ 3743589 w 6053670"/>
              <a:gd name="connsiteY35" fmla="*/ 227859 h 5581866"/>
              <a:gd name="connsiteX36" fmla="*/ 3875559 w 6053670"/>
              <a:gd name="connsiteY36" fmla="*/ 223938 h 5581866"/>
              <a:gd name="connsiteX37" fmla="*/ 4007529 w 6053670"/>
              <a:gd name="connsiteY37" fmla="*/ 219391 h 5581866"/>
              <a:gd name="connsiteX38" fmla="*/ 4140710 w 6053670"/>
              <a:gd name="connsiteY38" fmla="*/ 212961 h 5581866"/>
              <a:gd name="connsiteX39" fmla="*/ 4275102 w 6053670"/>
              <a:gd name="connsiteY39" fmla="*/ 205277 h 5581866"/>
              <a:gd name="connsiteX40" fmla="*/ 4410098 w 6053670"/>
              <a:gd name="connsiteY40" fmla="*/ 197907 h 5581866"/>
              <a:gd name="connsiteX41" fmla="*/ 4545096 w 6053670"/>
              <a:gd name="connsiteY41" fmla="*/ 188498 h 5581866"/>
              <a:gd name="connsiteX42" fmla="*/ 4681909 w 6053670"/>
              <a:gd name="connsiteY42" fmla="*/ 177207 h 5581866"/>
              <a:gd name="connsiteX43" fmla="*/ 4816905 w 6053670"/>
              <a:gd name="connsiteY43" fmla="*/ 165916 h 5581866"/>
              <a:gd name="connsiteX44" fmla="*/ 4954323 w 6053670"/>
              <a:gd name="connsiteY44" fmla="*/ 152899 h 5581866"/>
              <a:gd name="connsiteX45" fmla="*/ 5092347 w 6053670"/>
              <a:gd name="connsiteY45" fmla="*/ 138629 h 5581866"/>
              <a:gd name="connsiteX46" fmla="*/ 5228555 w 6053670"/>
              <a:gd name="connsiteY46" fmla="*/ 123574 h 5581866"/>
              <a:gd name="connsiteX47" fmla="*/ 5366578 w 6053670"/>
              <a:gd name="connsiteY47" fmla="*/ 106010 h 5581866"/>
              <a:gd name="connsiteX48" fmla="*/ 5503997 w 6053670"/>
              <a:gd name="connsiteY48" fmla="*/ 87192 h 5581866"/>
              <a:gd name="connsiteX49" fmla="*/ 5642020 w 6053670"/>
              <a:gd name="connsiteY49" fmla="*/ 68530 h 5581866"/>
              <a:gd name="connsiteX50" fmla="*/ 5779438 w 6053670"/>
              <a:gd name="connsiteY50" fmla="*/ 46733 h 5581866"/>
              <a:gd name="connsiteX51" fmla="*/ 5916251 w 6053670"/>
              <a:gd name="connsiteY51" fmla="*/ 24464 h 5581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5581866">
                <a:moveTo>
                  <a:pt x="6053670" y="1098"/>
                </a:moveTo>
                <a:lnTo>
                  <a:pt x="6053670" y="514028"/>
                </a:lnTo>
                <a:lnTo>
                  <a:pt x="6053670" y="1254558"/>
                </a:lnTo>
                <a:lnTo>
                  <a:pt x="6053670" y="5581866"/>
                </a:lnTo>
                <a:lnTo>
                  <a:pt x="0" y="5581866"/>
                </a:lnTo>
                <a:lnTo>
                  <a:pt x="0" y="1249853"/>
                </a:lnTo>
                <a:lnTo>
                  <a:pt x="0" y="514028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0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89" y="227859"/>
                </a:lnTo>
                <a:lnTo>
                  <a:pt x="3875559" y="223938"/>
                </a:lnTo>
                <a:lnTo>
                  <a:pt x="4007529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B5C860C9-D4F9-4350-80DA-0D1CD36C7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4AC39C9-15C0-296B-24CF-F12D3D20A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8" y="629265"/>
            <a:ext cx="5132438" cy="1622322"/>
          </a:xfrm>
        </p:spPr>
        <p:txBody>
          <a:bodyPr>
            <a:normAutofit/>
          </a:bodyPr>
          <a:lstStyle/>
          <a:p>
            <a:r>
              <a:rPr lang="pl-PL" dirty="0">
                <a:solidFill>
                  <a:srgbClr val="EBEBEB"/>
                </a:solidFill>
              </a:rPr>
              <a:t>Zadanie 2</a:t>
            </a:r>
          </a:p>
        </p:txBody>
      </p:sp>
      <p:pic>
        <p:nvPicPr>
          <p:cNvPr id="5" name="Obraz 4" descr="Obraz zawierający tekst, zrzut ekranu, diagram, linia&#10;&#10;Zawartość wygenerowana przez AI może być niepoprawna.">
            <a:extLst>
              <a:ext uri="{FF2B5EF4-FFF2-40B4-BE49-F238E27FC236}">
                <a16:creationId xmlns:a16="http://schemas.microsoft.com/office/drawing/2014/main" id="{DC900416-C492-10FC-22DE-01A8AA9764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4836" y="1415770"/>
            <a:ext cx="4828707" cy="404404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38A90C8-AE0E-4EBA-9AF8-EEDB20602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CACF730-FF49-9C57-D5A1-1388DDBFE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8" y="2418735"/>
            <a:ext cx="5132439" cy="38117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l-PL" sz="2000" b="1" dirty="0">
                <a:solidFill>
                  <a:srgbClr val="FFFFFF"/>
                </a:solidFill>
              </a:rPr>
              <a:t>ECR / ECO</a:t>
            </a:r>
          </a:p>
          <a:p>
            <a:r>
              <a:rPr lang="pl-PL" dirty="0">
                <a:solidFill>
                  <a:srgbClr val="FFFFFF"/>
                </a:solidFill>
              </a:rPr>
              <a:t> Inżynier zgłasza wniosek o zmianę (ECR). Zmiana jest oceniana pod kątem wpływu na jakość i certyfikację.</a:t>
            </a:r>
          </a:p>
          <a:p>
            <a:r>
              <a:rPr lang="pl-PL" dirty="0">
                <a:solidFill>
                  <a:srgbClr val="FFFFFF"/>
                </a:solidFill>
              </a:rPr>
              <a:t> Po akceptacji podejmowana jest decyzja ECO.</a:t>
            </a:r>
          </a:p>
          <a:p>
            <a:r>
              <a:rPr lang="pl-PL" dirty="0">
                <a:solidFill>
                  <a:srgbClr val="FFFFFF"/>
                </a:solidFill>
              </a:rPr>
              <a:t> Dokumentacja oraz struktury BOM/</a:t>
            </a:r>
            <a:r>
              <a:rPr lang="pl-PL" dirty="0" err="1">
                <a:solidFill>
                  <a:srgbClr val="FFFFFF"/>
                </a:solidFill>
              </a:rPr>
              <a:t>BoP</a:t>
            </a:r>
            <a:r>
              <a:rPr lang="pl-PL" dirty="0">
                <a:solidFill>
                  <a:srgbClr val="FFFFFF"/>
                </a:solidFill>
              </a:rPr>
              <a:t> są aktualizowane w systemie PLM. Zmiana jest komunikowana do systemów produkcyjnych (MES)</a:t>
            </a:r>
          </a:p>
        </p:txBody>
      </p:sp>
    </p:spTree>
    <p:extLst>
      <p:ext uri="{BB962C8B-B14F-4D97-AF65-F5344CB8AC3E}">
        <p14:creationId xmlns:p14="http://schemas.microsoft.com/office/powerpoint/2010/main" val="3283881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43780CE-2BE5-46F6-97B2-60DF30217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1A87A49-68E6-459E-A5A6-46229FF42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F6ACD5FC-CAFE-48EB-B765-60EED2E0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F412F87D-5199-3112-71A6-C368DD127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2942210" cy="1020232"/>
          </a:xfrm>
        </p:spPr>
        <p:txBody>
          <a:bodyPr>
            <a:normAutofit/>
          </a:bodyPr>
          <a:lstStyle/>
          <a:p>
            <a:r>
              <a:rPr lang="pl-PL">
                <a:solidFill>
                  <a:srgbClr val="EBEBEB"/>
                </a:solidFill>
              </a:rPr>
              <a:t>Zadanie 3</a:t>
            </a:r>
          </a:p>
        </p:txBody>
      </p:sp>
      <p:pic>
        <p:nvPicPr>
          <p:cNvPr id="5" name="Obraz 4" descr="Obraz zawierający tekst, zrzut ekranu, diagram, Równolegle&#10;&#10;Zawartość wygenerowana przez AI może być niepoprawna.">
            <a:extLst>
              <a:ext uri="{FF2B5EF4-FFF2-40B4-BE49-F238E27FC236}">
                <a16:creationId xmlns:a16="http://schemas.microsoft.com/office/drawing/2014/main" id="{3167EE0D-5BF8-30FA-3264-26D412F373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607" y="1767201"/>
            <a:ext cx="6391533" cy="332359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F33B405-D785-4738-B1C0-6A0AA5E98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233DC0E-DE6C-4FB6-A529-51B162641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870477F-E451-4BC3-863F-0E2FC5728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7BB75B2-DB29-2CCD-BC27-6E39B5B7F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120900"/>
            <a:ext cx="3133726" cy="3898900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l-PL" sz="1700" b="1">
                <a:solidFill>
                  <a:srgbClr val="FFFFFF"/>
                </a:solidFill>
              </a:rPr>
              <a:t>Result Reporting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l-PL" sz="1700">
                <a:solidFill>
                  <a:srgbClr val="FFFFFF"/>
                </a:solidFill>
              </a:rPr>
              <a:t> Proces rozpoczyna się po zatwierdzeniu wyniku w LIMS.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l-PL" sz="1700">
                <a:solidFill>
                  <a:srgbClr val="FFFFFF"/>
                </a:solidFill>
              </a:rPr>
              <a:t> Następuje translacja kodów i wysyłka wyniku w standardzie HL7/FHIR.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l-PL" sz="1700">
                <a:solidFill>
                  <a:srgbClr val="FFFFFF"/>
                </a:solidFill>
              </a:rPr>
              <a:t> Klinika potwierdza odbiór raportu.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l-PL" sz="1700">
                <a:solidFill>
                  <a:srgbClr val="FFFFFF"/>
                </a:solidFill>
              </a:rPr>
              <a:t> QA przeprowadza audyt integralności oraz chain-of-custody. W przypadku błędów możliwa jest korekta lub errata raportu.</a:t>
            </a:r>
          </a:p>
        </p:txBody>
      </p:sp>
      <p:sp>
        <p:nvSpPr>
          <p:cNvPr id="22" name="Freeform 5">
            <a:extLst>
              <a:ext uri="{FF2B5EF4-FFF2-40B4-BE49-F238E27FC236}">
                <a16:creationId xmlns:a16="http://schemas.microsoft.com/office/drawing/2014/main" id="{B4A81DE1-E2BC-4A31-99EE-71350421B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449139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43780CE-2BE5-46F6-97B2-60DF30217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1A87A49-68E6-459E-A5A6-46229FF42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F6ACD5FC-CAFE-48EB-B765-60EED2E0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45D5C4C-CB8B-A5F2-60B7-ED46B3139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2942210" cy="1020232"/>
          </a:xfrm>
        </p:spPr>
        <p:txBody>
          <a:bodyPr>
            <a:normAutofit/>
          </a:bodyPr>
          <a:lstStyle/>
          <a:p>
            <a:r>
              <a:rPr lang="pl-PL">
                <a:solidFill>
                  <a:srgbClr val="EBEBEB"/>
                </a:solidFill>
              </a:rPr>
              <a:t>Zadanie 3</a:t>
            </a:r>
          </a:p>
        </p:txBody>
      </p:sp>
      <p:pic>
        <p:nvPicPr>
          <p:cNvPr id="5" name="Obraz 4" descr="Obraz zawierający tekst, diagram, zrzut ekranu, Plan&#10;&#10;Zawartość wygenerowana przez AI może być niepoprawna.">
            <a:extLst>
              <a:ext uri="{FF2B5EF4-FFF2-40B4-BE49-F238E27FC236}">
                <a16:creationId xmlns:a16="http://schemas.microsoft.com/office/drawing/2014/main" id="{40754DB7-3E8A-6363-B2EF-527DF7CC17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75" y="803751"/>
            <a:ext cx="5691596" cy="525049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F33B405-D785-4738-B1C0-6A0AA5E98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233DC0E-DE6C-4FB6-A529-51B162641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870477F-E451-4BC3-863F-0E2FC5728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76EFB35-FE85-E31C-DC01-F7962DFCD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120900"/>
            <a:ext cx="3133726" cy="38989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sz="1500" b="1">
                <a:solidFill>
                  <a:srgbClr val="FFFFFF"/>
                </a:solidFill>
              </a:rPr>
              <a:t>Specimen Lifecycle</a:t>
            </a:r>
          </a:p>
          <a:p>
            <a:pPr>
              <a:lnSpc>
                <a:spcPct val="90000"/>
              </a:lnSpc>
            </a:pPr>
            <a:r>
              <a:rPr lang="pl-PL" sz="1500">
                <a:solidFill>
                  <a:srgbClr val="FFFFFF"/>
                </a:solidFill>
              </a:rPr>
              <a:t> Próbka zostaje przyjęta i zarejestrowana w laboratorium.</a:t>
            </a:r>
          </a:p>
          <a:p>
            <a:pPr>
              <a:lnSpc>
                <a:spcPct val="90000"/>
              </a:lnSpc>
            </a:pPr>
            <a:r>
              <a:rPr lang="pl-PL" sz="1500">
                <a:solidFill>
                  <a:srgbClr val="FFFFFF"/>
                </a:solidFill>
              </a:rPr>
              <a:t> Technik przygotowuje próbkę i wykonuje analizę.</a:t>
            </a:r>
          </a:p>
          <a:p>
            <a:pPr>
              <a:lnSpc>
                <a:spcPct val="90000"/>
              </a:lnSpc>
            </a:pPr>
            <a:r>
              <a:rPr lang="pl-PL" sz="1500">
                <a:solidFill>
                  <a:srgbClr val="FFFFFF"/>
                </a:solidFill>
              </a:rPr>
              <a:t> Diagnosta waliduje wynik i podejmuje decyzję o poprawności.</a:t>
            </a:r>
          </a:p>
          <a:p>
            <a:pPr>
              <a:lnSpc>
                <a:spcPct val="90000"/>
              </a:lnSpc>
            </a:pPr>
            <a:r>
              <a:rPr lang="pl-PL" sz="1500">
                <a:solidFill>
                  <a:srgbClr val="FFFFFF"/>
                </a:solidFill>
              </a:rPr>
              <a:t> W przypadku błędów analiza jest powtarzana. Po zatwierdzeniu wynik jest gotowy do raportowania.</a:t>
            </a:r>
          </a:p>
        </p:txBody>
      </p:sp>
      <p:sp>
        <p:nvSpPr>
          <p:cNvPr id="22" name="Freeform 5">
            <a:extLst>
              <a:ext uri="{FF2B5EF4-FFF2-40B4-BE49-F238E27FC236}">
                <a16:creationId xmlns:a16="http://schemas.microsoft.com/office/drawing/2014/main" id="{B4A81DE1-E2BC-4A31-99EE-71350421B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484596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43780CE-2BE5-46F6-97B2-60DF30217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61A87A49-68E6-459E-A5A6-46229FF42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31" name="Freeform 5">
            <a:extLst>
              <a:ext uri="{FF2B5EF4-FFF2-40B4-BE49-F238E27FC236}">
                <a16:creationId xmlns:a16="http://schemas.microsoft.com/office/drawing/2014/main" id="{F6ACD5FC-CAFE-48EB-B765-60EED2E0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D6FDF77-0EBC-54BF-8A6E-C72E88A07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2942210" cy="1020232"/>
          </a:xfrm>
        </p:spPr>
        <p:txBody>
          <a:bodyPr>
            <a:normAutofit/>
          </a:bodyPr>
          <a:lstStyle/>
          <a:p>
            <a:r>
              <a:rPr lang="pl-PL">
                <a:solidFill>
                  <a:srgbClr val="EBEBEB"/>
                </a:solidFill>
              </a:rPr>
              <a:t>Zadanie 4</a:t>
            </a:r>
          </a:p>
        </p:txBody>
      </p:sp>
      <p:pic>
        <p:nvPicPr>
          <p:cNvPr id="5" name="Obraz 4" descr="Obraz zawierający diagram, tekst, zrzut ekranu, linia&#10;&#10;Zawartość wygenerowana przez AI może być niepoprawna.">
            <a:extLst>
              <a:ext uri="{FF2B5EF4-FFF2-40B4-BE49-F238E27FC236}">
                <a16:creationId xmlns:a16="http://schemas.microsoft.com/office/drawing/2014/main" id="{472CC2F4-FCE0-320D-C2BA-80AB08F597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097" y="2177330"/>
            <a:ext cx="6675568" cy="2503337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9F33B405-D785-4738-B1C0-6A0AA5E98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233DC0E-DE6C-4FB6-A529-51B162641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870477F-E451-4BC3-863F-0E2FC5728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0670DC0-37B8-CE3D-2571-95A54D428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120900"/>
            <a:ext cx="3133726" cy="3898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>
                <a:solidFill>
                  <a:srgbClr val="FFFFFF"/>
                </a:solidFill>
              </a:rPr>
              <a:t>Screening &amp; Enrollment</a:t>
            </a:r>
          </a:p>
          <a:p>
            <a:pPr marL="0" indent="0">
              <a:buNone/>
            </a:pPr>
            <a:r>
              <a:rPr lang="pl-PL">
                <a:solidFill>
                  <a:srgbClr val="FFFFFF"/>
                </a:solidFill>
              </a:rPr>
              <a:t> Kandydat wypełnia formularz pre-screening.</a:t>
            </a:r>
          </a:p>
          <a:p>
            <a:pPr marL="0" indent="0">
              <a:buNone/>
            </a:pPr>
            <a:r>
              <a:rPr lang="pl-PL">
                <a:solidFill>
                  <a:srgbClr val="FFFFFF"/>
                </a:solidFill>
              </a:rPr>
              <a:t> Koordynator weryfikuje kryteria wstępne.</a:t>
            </a:r>
          </a:p>
          <a:p>
            <a:pPr marL="0" indent="0">
              <a:buNone/>
            </a:pPr>
            <a:r>
              <a:rPr lang="pl-PL">
                <a:solidFill>
                  <a:srgbClr val="FFFFFF"/>
                </a:solidFill>
              </a:rPr>
              <a:t> Uczestnik podpisuje eConsent.</a:t>
            </a:r>
          </a:p>
          <a:p>
            <a:pPr marL="0" indent="0">
              <a:buNone/>
            </a:pPr>
            <a:r>
              <a:rPr lang="pl-PL">
                <a:solidFill>
                  <a:srgbClr val="FFFFFF"/>
                </a:solidFill>
              </a:rPr>
              <a:t> System wykonuje randomizację. Po wizycie baseline uczestnik zostaje włączony do badania.</a:t>
            </a:r>
          </a:p>
        </p:txBody>
      </p:sp>
      <p:sp>
        <p:nvSpPr>
          <p:cNvPr id="39" name="Freeform 5">
            <a:extLst>
              <a:ext uri="{FF2B5EF4-FFF2-40B4-BE49-F238E27FC236}">
                <a16:creationId xmlns:a16="http://schemas.microsoft.com/office/drawing/2014/main" id="{B4A81DE1-E2BC-4A31-99EE-71350421B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397476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43780CE-2BE5-46F6-97B2-60DF30217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1A87A49-68E6-459E-A5A6-46229FF42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F6ACD5FC-CAFE-48EB-B765-60EED2E0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C494D9E-5C6B-7E1A-37C3-ED3E38B90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2942210" cy="1020232"/>
          </a:xfrm>
        </p:spPr>
        <p:txBody>
          <a:bodyPr>
            <a:normAutofit/>
          </a:bodyPr>
          <a:lstStyle/>
          <a:p>
            <a:r>
              <a:rPr lang="pl-PL">
                <a:solidFill>
                  <a:srgbClr val="EBEBEB"/>
                </a:solidFill>
              </a:rPr>
              <a:t>Zadanie 4</a:t>
            </a:r>
          </a:p>
        </p:txBody>
      </p:sp>
      <p:pic>
        <p:nvPicPr>
          <p:cNvPr id="5" name="Obraz 4" descr="Obraz zawierający tekst, diagram, zrzut ekranu, linia&#10;&#10;Zawartość wygenerowana przez AI może być niepoprawna.">
            <a:extLst>
              <a:ext uri="{FF2B5EF4-FFF2-40B4-BE49-F238E27FC236}">
                <a16:creationId xmlns:a16="http://schemas.microsoft.com/office/drawing/2014/main" id="{6EEC27B4-795B-295B-4105-3658C72DAE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607" y="1351752"/>
            <a:ext cx="6391533" cy="415449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F33B405-D785-4738-B1C0-6A0AA5E98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233DC0E-DE6C-4FB6-A529-51B162641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870477F-E451-4BC3-863F-0E2FC5728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3D66DC1-EB9D-9250-386E-75D4677CE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120900"/>
            <a:ext cx="3133726" cy="38989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sz="1500">
                <a:solidFill>
                  <a:srgbClr val="FFFFFF"/>
                </a:solidFill>
              </a:rPr>
              <a:t>AE / SAE Reporting</a:t>
            </a:r>
          </a:p>
          <a:p>
            <a:pPr>
              <a:lnSpc>
                <a:spcPct val="90000"/>
              </a:lnSpc>
            </a:pPr>
            <a:r>
              <a:rPr lang="pl-PL" sz="1500">
                <a:solidFill>
                  <a:srgbClr val="FFFFFF"/>
                </a:solidFill>
              </a:rPr>
              <a:t> Uczestnik zgłasza zdarzenie niepożądane (AE).</a:t>
            </a:r>
          </a:p>
          <a:p>
            <a:pPr>
              <a:lnSpc>
                <a:spcPct val="90000"/>
              </a:lnSpc>
            </a:pPr>
            <a:r>
              <a:rPr lang="pl-PL" sz="1500">
                <a:solidFill>
                  <a:srgbClr val="FFFFFF"/>
                </a:solidFill>
              </a:rPr>
              <a:t> Zdarzenie jest rejestrowane w eCRF i poddane triage.</a:t>
            </a:r>
          </a:p>
          <a:p>
            <a:pPr>
              <a:lnSpc>
                <a:spcPct val="90000"/>
              </a:lnSpc>
            </a:pPr>
            <a:r>
              <a:rPr lang="pl-PL" sz="1500">
                <a:solidFill>
                  <a:srgbClr val="FFFFFF"/>
                </a:solidFill>
              </a:rPr>
              <a:t> W przypadku SAE następuje natychmiastowa notyfikacja sponsora i IRB. Zdarzenie jest dokumentowane i zamykane po zakończeniu analizy.</a:t>
            </a:r>
          </a:p>
        </p:txBody>
      </p:sp>
      <p:sp>
        <p:nvSpPr>
          <p:cNvPr id="22" name="Freeform 5">
            <a:extLst>
              <a:ext uri="{FF2B5EF4-FFF2-40B4-BE49-F238E27FC236}">
                <a16:creationId xmlns:a16="http://schemas.microsoft.com/office/drawing/2014/main" id="{B4A81DE1-E2BC-4A31-99EE-71350421B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19810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Jon (sala konferencyjna)">
  <a:themeElements>
    <a:clrScheme name="Jon (sala konferencyjna)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Jon (sala konferencyjna)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Jon (sala konferencyjna)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23</TotalTime>
  <Words>453</Words>
  <Application>Microsoft Office PowerPoint</Application>
  <PresentationFormat>Panoramiczny</PresentationFormat>
  <Paragraphs>56</Paragraphs>
  <Slides>10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Jon (sala konferencyjna)</vt:lpstr>
      <vt:lpstr>Analiza potrzeb informatycznych użytkowników biznesowych</vt:lpstr>
      <vt:lpstr>Raport BPMN – Opis procesów biznesowych</vt:lpstr>
      <vt:lpstr>Zadanie 1</vt:lpstr>
      <vt:lpstr>Zadanie 1</vt:lpstr>
      <vt:lpstr>Zadanie 2</vt:lpstr>
      <vt:lpstr>Zadanie 2</vt:lpstr>
      <vt:lpstr>Zadanie 3</vt:lpstr>
      <vt:lpstr>Zadanie 3</vt:lpstr>
      <vt:lpstr>Zadanie 4</vt:lpstr>
      <vt:lpstr>Zadanie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Oskar 60582</dc:creator>
  <cp:lastModifiedBy>Oskar 60582</cp:lastModifiedBy>
  <cp:revision>2</cp:revision>
  <dcterms:created xsi:type="dcterms:W3CDTF">2026-01-12T20:36:54Z</dcterms:created>
  <dcterms:modified xsi:type="dcterms:W3CDTF">2026-01-18T07:56:07Z</dcterms:modified>
</cp:coreProperties>
</file>